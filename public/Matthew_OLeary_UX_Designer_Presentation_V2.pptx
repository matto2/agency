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2505603" y="2286000"/>
            <a:ext cx="4132794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/>
            </a:lvl1pPr>
          </a:lstStyle>
          <a:p>
            <a:pPr/>
            <a:r>
              <a:t>Matthew O'Leary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1504969" y="3474720"/>
            <a:ext cx="61340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400">
                <a:solidFill>
                  <a:srgbClr val="505050"/>
                </a:solidFill>
              </a:defRPr>
            </a:lvl1pPr>
          </a:lstStyle>
          <a:p>
            <a:pPr/>
            <a:r>
              <a:t>UX Designer  |  Making Complex Systems Human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502919" y="457200"/>
            <a:ext cx="6347109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The Pattern I've Seen Repeatedly</a:t>
            </a:r>
          </a:p>
        </p:txBody>
      </p:sp>
      <p:sp>
        <p:nvSpPr>
          <p:cNvPr id="98" name="TextBox 2"/>
          <p:cNvSpPr txBox="1"/>
          <p:nvPr/>
        </p:nvSpPr>
        <p:spPr>
          <a:xfrm>
            <a:off x="502919" y="1371600"/>
            <a:ext cx="8138161" cy="4302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Engineers build incredibly sophisticated systems—smart, powerful, feature-rich.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But they design for themselves: assuming users have the same technical knowledge, expecting them to understand complex relationships immediately, presenting all features at once with equal weight.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This creates products that are brilliant but bewildering.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My role: Bridge that gap. Translate technical complexity into intuitive human experiences.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916999" y="274320"/>
            <a:ext cx="7310002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Live Price Check: Simplifying Complex Data</a:t>
            </a:r>
          </a:p>
        </p:txBody>
      </p:sp>
      <p:sp>
        <p:nvSpPr>
          <p:cNvPr id="101" name="TextBox 2"/>
          <p:cNvSpPr txBox="1"/>
          <p:nvPr/>
        </p:nvSpPr>
        <p:spPr>
          <a:xfrm>
            <a:off x="653462" y="914400"/>
            <a:ext cx="3722276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C83232"/>
                </a:solidFill>
              </a:defRPr>
            </a:lvl1pPr>
          </a:lstStyle>
          <a:p>
            <a:pPr/>
            <a:r>
              <a:t>Engineer-Designed: Data Overload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183368" y="914400"/>
            <a:ext cx="289206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000">
                <a:solidFill>
                  <a:srgbClr val="329632"/>
                </a:solidFill>
              </a:defRPr>
            </a:lvl1pPr>
          </a:lstStyle>
          <a:p>
            <a:pPr/>
            <a:r>
              <a:t>Simplified: Clear Hierarchy</a:t>
            </a:r>
          </a:p>
        </p:txBody>
      </p:sp>
      <p:pic>
        <p:nvPicPr>
          <p:cNvPr id="10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465318"/>
            <a:ext cx="3864885" cy="28986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21915" y="1465318"/>
            <a:ext cx="3864885" cy="2898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1096883" y="274320"/>
            <a:ext cx="6950234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Live Price Check: Making Data Scannable</a:t>
            </a:r>
          </a:p>
        </p:txBody>
      </p:sp>
      <p:sp>
        <p:nvSpPr>
          <p:cNvPr id="107" name="TextBox 2"/>
          <p:cNvSpPr txBox="1"/>
          <p:nvPr/>
        </p:nvSpPr>
        <p:spPr>
          <a:xfrm>
            <a:off x="410744" y="914400"/>
            <a:ext cx="3716254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C83232"/>
                </a:solidFill>
              </a:defRPr>
            </a:lvl1pPr>
          </a:lstStyle>
          <a:p>
            <a:pPr/>
            <a:r>
              <a:t>Before: Unclear Legend - No Ability to Interact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4701161" y="914400"/>
            <a:ext cx="4040917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329632"/>
                </a:solidFill>
              </a:defRPr>
            </a:lvl1pPr>
          </a:lstStyle>
          <a:p>
            <a:pPr/>
            <a:r>
              <a:t>After: Obvious Legend and Ability to Customize</a:t>
            </a:r>
          </a:p>
        </p:txBody>
      </p:sp>
      <p:pic>
        <p:nvPicPr>
          <p:cNvPr id="10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099982"/>
            <a:ext cx="3825315" cy="24679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56437" y="2066096"/>
            <a:ext cx="3930363" cy="25357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 txBox="1"/>
          <p:nvPr/>
        </p:nvSpPr>
        <p:spPr>
          <a:xfrm>
            <a:off x="502919" y="457200"/>
            <a:ext cx="7462874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How I Make Technical Products Human</a:t>
            </a:r>
          </a:p>
        </p:txBody>
      </p:sp>
      <p:sp>
        <p:nvSpPr>
          <p:cNvPr id="113" name="TextBox 2"/>
          <p:cNvSpPr txBox="1"/>
          <p:nvPr/>
        </p:nvSpPr>
        <p:spPr>
          <a:xfrm>
            <a:off x="502920" y="1387717"/>
            <a:ext cx="8138160" cy="4912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Ruthless simplification: Remove cognitive load, surface only what matters now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Progressive disclosure: Guide users from simple to complex, reveal features as they're needed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Clear information hierarchy: Show relationships, not just features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Collaboration with engineering: Respect technical constraints while advocating for users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Iterative refinement: Test, learn, simplify further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502919" y="457200"/>
            <a:ext cx="6457837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Kiteworks: Enterprise File Sharing</a:t>
            </a:r>
          </a:p>
        </p:txBody>
      </p:sp>
      <p:pic>
        <p:nvPicPr>
          <p:cNvPr id="1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1371600"/>
            <a:ext cx="6095999" cy="457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3"/>
          <p:cNvSpPr txBox="1"/>
          <p:nvPr/>
        </p:nvSpPr>
        <p:spPr>
          <a:xfrm>
            <a:off x="1166336" y="5943600"/>
            <a:ext cx="681132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600">
                <a:solidFill>
                  <a:srgbClr val="505050"/>
                </a:solidFill>
              </a:defRPr>
            </a:lvl1pPr>
          </a:lstStyle>
          <a:p>
            <a:pPr/>
            <a:r>
              <a:t>Clean, intuitive interface for complex permission systems and secure collaboration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 txBox="1"/>
          <p:nvPr/>
        </p:nvSpPr>
        <p:spPr>
          <a:xfrm>
            <a:off x="502919" y="457200"/>
            <a:ext cx="7506629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Open Banking: Fintech Platform Design</a:t>
            </a:r>
          </a:p>
        </p:txBody>
      </p:sp>
      <p:pic>
        <p:nvPicPr>
          <p:cNvPr id="1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1477" y="1371600"/>
            <a:ext cx="6361045" cy="457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Box 3"/>
          <p:cNvSpPr txBox="1"/>
          <p:nvPr/>
        </p:nvSpPr>
        <p:spPr>
          <a:xfrm>
            <a:off x="1977896" y="5943600"/>
            <a:ext cx="518820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600">
                <a:solidFill>
                  <a:srgbClr val="505050"/>
                </a:solidFill>
              </a:defRPr>
            </a:lvl1pPr>
          </a:lstStyle>
          <a:p>
            <a:pPr/>
            <a:r>
              <a:t>Designed developer-facing banking APIs and integration flows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 txBox="1"/>
          <p:nvPr/>
        </p:nvSpPr>
        <p:spPr>
          <a:xfrm>
            <a:off x="502919" y="457200"/>
            <a:ext cx="6532847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Where I've Applied This Approach</a:t>
            </a:r>
          </a:p>
        </p:txBody>
      </p:sp>
      <p:sp>
        <p:nvSpPr>
          <p:cNvPr id="124" name="TextBox 2"/>
          <p:cNvSpPr txBox="1"/>
          <p:nvPr/>
        </p:nvSpPr>
        <p:spPr>
          <a:xfrm>
            <a:off x="502919" y="1371600"/>
            <a:ext cx="8138161" cy="46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rPr b="1"/>
              <a:t>Kiteworks</a:t>
            </a:r>
            <a:r>
              <a:t> – Enterprise file sharing &amp; collaboration platform</a:t>
            </a:r>
          </a:p>
          <a:p>
            <a:pPr marL="228600" indent="-228600">
              <a:spcBef>
                <a:spcPts val="1200"/>
              </a:spcBef>
              <a:buSzPct val="100000"/>
              <a:buChar char="•"/>
              <a:defRPr sz="2000">
                <a:solidFill>
                  <a:srgbClr val="282828"/>
                </a:solidFill>
              </a:defRPr>
            </a:pPr>
            <a:r>
              <a:t>Redesigned complex permission systems and sharing workflows for non-technical users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rPr b="1"/>
              <a:t>Open Banking (Axway)</a:t>
            </a:r>
            <a:r>
              <a:t> – Fintech data aggregation platform</a:t>
            </a:r>
          </a:p>
          <a:p>
            <a:pPr marL="228600" indent="-228600">
              <a:spcBef>
                <a:spcPts val="1200"/>
              </a:spcBef>
              <a:buSzPct val="100000"/>
              <a:buChar char="•"/>
              <a:defRPr sz="2000">
                <a:solidFill>
                  <a:srgbClr val="282828"/>
                </a:solidFill>
              </a:defRPr>
            </a:pPr>
            <a:r>
              <a:t>Simplified bank connection flows and financial data visualization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rPr b="1"/>
              <a:t>Live Price Check</a:t>
            </a:r>
            <a:r>
              <a:t> – Retail pricing intelligence SaaS</a:t>
            </a:r>
          </a:p>
          <a:p>
            <a:pPr marL="228600" indent="-228600">
              <a:spcBef>
                <a:spcPts val="1200"/>
              </a:spcBef>
              <a:buSzPct val="100000"/>
              <a:buChar char="•"/>
              <a:defRPr sz="2000">
                <a:solidFill>
                  <a:srgbClr val="282828"/>
                </a:solidFill>
              </a:defRPr>
            </a:pPr>
            <a:r>
              <a:t>Created intuitive dashboards from complex competitive pricing data</a:t>
            </a:r>
          </a:p>
          <a:p>
            <a:pPr marL="228600" indent="-228600">
              <a:spcBef>
                <a:spcPts val="1200"/>
              </a:spcBef>
              <a:buSzPct val="100000"/>
              <a:buChar char="•"/>
              <a:defRPr sz="2000">
                <a:solidFill>
                  <a:srgbClr val="282828"/>
                </a:solidFill>
              </a:defRPr>
            </a:pPr>
            <a:r>
              <a:t>Transformed engineer-designed data tables into scannable, actionable interfaces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 txBox="1"/>
          <p:nvPr/>
        </p:nvSpPr>
        <p:spPr>
          <a:xfrm>
            <a:off x="502919" y="457200"/>
            <a:ext cx="522554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Why I'm Right for This Role</a:t>
            </a:r>
          </a:p>
        </p:txBody>
      </p:sp>
      <p:sp>
        <p:nvSpPr>
          <p:cNvPr id="127" name="TextBox 2"/>
          <p:cNvSpPr txBox="1"/>
          <p:nvPr/>
        </p:nvSpPr>
        <p:spPr>
          <a:xfrm>
            <a:off x="502919" y="1371600"/>
            <a:ext cx="3794761" cy="608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Job Requirements: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Bridge system architecture and UX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  I've done this repeatedly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Transform complex requirements into intuitive patterns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  This is my core skill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Compliance &amp; regulatory flows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  Enterprise experience with legal constraints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Design systems maintenance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  Built and evolved UI libraries</a:t>
            </a:r>
          </a:p>
        </p:txBody>
      </p:sp>
      <p:sp>
        <p:nvSpPr>
          <p:cNvPr id="128" name="TextBox 3"/>
          <p:cNvSpPr txBox="1"/>
          <p:nvPr/>
        </p:nvSpPr>
        <p:spPr>
          <a:xfrm>
            <a:off x="4846320" y="1371600"/>
            <a:ext cx="3794760" cy="5984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My Differentiators: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10+ years UX across SaaS, fintech, enterprise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Deep technical knowledge—I code (HTML/CSS/JS, modern frameworks)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Production mindset—understand implementation constraints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Commerce experience—designed checkout/payment flows</a:t>
            </a: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</a:p>
          <a:p>
            <a:pPr>
              <a:spcBef>
                <a:spcPts val="1000"/>
              </a:spcBef>
              <a:defRPr>
                <a:solidFill>
                  <a:srgbClr val="282828"/>
                </a:solidFill>
              </a:defRPr>
            </a:pPr>
            <a:r>
              <a:t>• Proven stakeholder collaboration—engineers and PMs trust 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502919" y="457200"/>
            <a:ext cx="3088666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My Recent Path</a:t>
            </a:r>
          </a:p>
        </p:txBody>
      </p:sp>
      <p:sp>
        <p:nvSpPr>
          <p:cNvPr id="131" name="TextBox 2"/>
          <p:cNvSpPr txBox="1"/>
          <p:nvPr/>
        </p:nvSpPr>
        <p:spPr>
          <a:xfrm>
            <a:off x="502919" y="1371600"/>
            <a:ext cx="8138161" cy="6436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2022-2024: Transitioned from full-time UX to entrepreneurial projects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Launched Walk Santa Cruz (historical tour business) - designed entire customer journey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Maintained technical skills: built sites with Astro.js, Tailwind CSS, modern workflows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Freelance web design - kept design thinking sharp across varied projects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Stayed current: AI-assisted workflows, modern design/dev tools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Why return to enterprise UX?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I miss working on complex systems at scale. I miss collaborating with brilliant engineering teams. I miss solving hard UX problems that impact millions of users.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I'm ready to bring fresh perspective + proven experience to high-impact product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 txBox="1"/>
          <p:nvPr/>
        </p:nvSpPr>
        <p:spPr>
          <a:xfrm>
            <a:off x="502919" y="457200"/>
            <a:ext cx="5520667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What You Get From Day One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502919" y="1371600"/>
            <a:ext cx="8138161" cy="582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Immediate productivity: I've designed these flows before (trials, pricing, cancellations)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Engineering partnership: I understand technical constraints and speak their language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User advocacy with pragmatism: I push for users without creating impossible requirements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Design systems thinking: I build for scale and reusability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Global perspective: Experience with international markets and accessibility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Fast iteration: Modern prototyping tools, rapid validation cycles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 txBox="1"/>
          <p:nvPr/>
        </p:nvSpPr>
        <p:spPr>
          <a:xfrm>
            <a:off x="502919" y="457200"/>
            <a:ext cx="3755714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About My Portfolio</a:t>
            </a:r>
          </a:p>
        </p:txBody>
      </p:sp>
      <p:sp>
        <p:nvSpPr>
          <p:cNvPr id="137" name="TextBox 2"/>
          <p:cNvSpPr txBox="1"/>
          <p:nvPr/>
        </p:nvSpPr>
        <p:spPr>
          <a:xfrm>
            <a:off x="502919" y="1371600"/>
            <a:ext cx="8138161" cy="6436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Full transparency: I don't have a traditional case study portfolio.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Like many experienced designers who focused on shipping products rather than documenting process, my work lives in production systems and confidential repositories.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What I can provide: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Detailed walkthrough conversations about my process and decisions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References from directors and PMs I've worked with (including Credit Karma)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Quick spec work on relevant problem spaces to demonstrate current thinking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• My live portfolio site showing range across digital/print/web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I'm happy to discuss any project in depth or tackle a design challenge to demonstrate approach.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502919" y="457200"/>
            <a:ext cx="1824669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/>
            </a:lvl1pPr>
          </a:lstStyle>
          <a:p>
            <a:pPr/>
            <a:r>
              <a:t>Let's Talk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502919" y="1371600"/>
            <a:ext cx="8138161" cy="552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I've spent 10+ years making engineer-brilliant products human-simple.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This role is exactly that: complex commerce systems, regulatory requirements, global scale—all needing intuitive user experiences.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I'm ready to dig in, collaborate with your teams, and ship designs that make a difference.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Matthew O'Leary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mattosurf@icloud.com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(831) 275-2566</a:t>
            </a:r>
          </a:p>
          <a:p>
            <a:pPr>
              <a:spcBef>
                <a:spcPts val="1200"/>
              </a:spcBef>
              <a:defRPr sz="2000">
                <a:solidFill>
                  <a:srgbClr val="282828"/>
                </a:solidFill>
              </a:defRPr>
            </a:pPr>
            <a:r>
              <a:t>mattoleary.design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